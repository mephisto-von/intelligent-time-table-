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0A202"/>
                </a:solidFill>
                <a:latin typeface="Calibri"/>
              </a:rPr>
              <a:t>FINAL YEAR PROJECT  ·  19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TimetableMaster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9D9E8"/>
                </a:solidFill>
                <a:latin typeface="Calibri"/>
              </a:rPr>
              <a:t>An intelligent timetable platform for schools and universities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9D9E8"/>
                </a:solidFill>
                <a:latin typeface="Calibri"/>
              </a:rPr>
              <a:t>Constraint-based generation · drag &amp; drop editing · cover, leave and calendar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79392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Hira Hassan   ·   F23607055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79392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Iman Aftab   ·   F23607041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Jawaria Sabir   ·   F23607040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663440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Hamza Abdul Karim   ·   F23607046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38928"/>
            <a:ext cx="2011680" cy="3657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8A838"/>
                </a:solidFill>
                <a:latin typeface="Calibri"/>
              </a:rPr>
              <a:t>Supervisor: Ms. Faria Sajjad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FB8CE"/>
                </a:solidFill>
                <a:latin typeface="Calibri"/>
              </a:rPr>
              <a:t>Built from scratch in Rust (Axum + SQLite) and React 19 +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1D6FA8"/>
                </a:solidFill>
                <a:latin typeface="Calibri"/>
              </a:rPr>
              <a:t>▪  </a:t>
            </a:r>
            <a:r>
              <a:rPr sz="1900" b="0">
                <a:solidFill>
                  <a:srgbClr val="333F50"/>
                </a:solidFill>
                <a:latin typeface="Calibri"/>
              </a:rPr>
              <a:t>1.  Problem &amp; objectives — why timetabling is still done by hand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1D6FA8"/>
                </a:solidFill>
                <a:latin typeface="Calibri"/>
              </a:rPr>
              <a:t>▪  </a:t>
            </a:r>
            <a:r>
              <a:rPr sz="1900" b="0">
                <a:solidFill>
                  <a:srgbClr val="333F50"/>
                </a:solidFill>
                <a:latin typeface="Calibri"/>
              </a:rPr>
              <a:t>2.  The scheduling engine — the technical core of the project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1D6FA8"/>
                </a:solidFill>
                <a:latin typeface="Calibri"/>
              </a:rPr>
              <a:t>▪  </a:t>
            </a:r>
            <a:r>
              <a:rPr sz="1900" b="0">
                <a:solidFill>
                  <a:srgbClr val="333F50"/>
                </a:solidFill>
                <a:latin typeface="Calibri"/>
              </a:rPr>
              <a:t>3.  Architecture &amp; technology choices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1D6FA8"/>
                </a:solidFill>
                <a:latin typeface="Calibri"/>
              </a:rPr>
              <a:t>▪  </a:t>
            </a:r>
            <a:r>
              <a:rPr sz="1900" b="0">
                <a:solidFill>
                  <a:srgbClr val="333F50"/>
                </a:solidFill>
                <a:latin typeface="Calibri"/>
              </a:rPr>
              <a:t>4.  Live product tour — setup, timetable, cover, calendar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1D6FA8"/>
                </a:solidFill>
                <a:latin typeface="Calibri"/>
              </a:rPr>
              <a:t>▪  </a:t>
            </a:r>
            <a:r>
              <a:rPr sz="1900" b="0">
                <a:solidFill>
                  <a:srgbClr val="333F50"/>
                </a:solidFill>
                <a:latin typeface="Calibri"/>
              </a:rPr>
              <a:t>5.  Security, roles and multi-tenancy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1D6FA8"/>
                </a:solidFill>
                <a:latin typeface="Calibri"/>
              </a:rPr>
              <a:t>▪  </a:t>
            </a:r>
            <a:r>
              <a:rPr sz="1900" b="0">
                <a:solidFill>
                  <a:srgbClr val="333F50"/>
                </a:solidFill>
                <a:latin typeface="Calibri"/>
              </a:rPr>
              <a:t>6.  Testing &amp; CI — 12 unit tests, 126 API checks, 33 browser checks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1D6FA8"/>
                </a:solidFill>
                <a:latin typeface="Calibri"/>
              </a:rPr>
              <a:t>▪  </a:t>
            </a:r>
            <a:r>
              <a:rPr sz="1900" b="0">
                <a:solidFill>
                  <a:srgbClr val="333F50"/>
                </a:solidFill>
                <a:latin typeface="Calibri"/>
              </a:rPr>
              <a:t>7.  Results, limitations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Timetabling is still a manual, error-prone ritual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Manual spreadsheets and paper grids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Hundreds of constraints per week: rooms, availability, caps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Clashes found only after publishing → costly rework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Cover arranged by phone calls and guesswork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No audit trail of who changed what, and when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00200"/>
            <a:ext cx="4389120" cy="35661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288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6FA8"/>
                </a:solidFill>
                <a:latin typeface="Calibri"/>
              </a:rPr>
              <a:t>THE COST OF GETTING IT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Re-issuing a timetable to 3 classes and 8 teachers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Teacher conflicts → disputes, grievances, cover chaos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Manual cover hunting on a normal teaching morning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Version chaos: final_v7_REAL.xlsx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What the project set out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Generate clash-free timetables automatically from a curriculum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Respect every hard rule: rooms, availability, workload caps, two-week A/B cycles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Keep human judgement: drag &amp; drop edits that survive regeneration (pinned lessons)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Handle day-2 operations: leave workflow, ranked cover suggestions, school calendar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Make the result usable: CSV / PDF / ICS export, read-only share links, notifications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Make it accountable and safe: role-based access, multi-tenancy, activity log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700" b="1">
                <a:solidFill>
                  <a:srgbClr val="1D6FA8"/>
                </a:solidFill>
                <a:latin typeface="Calibri"/>
              </a:rPr>
              <a:t>▪  </a:t>
            </a:r>
            <a:r>
              <a:rPr sz="1700" b="0">
                <a:solidFill>
                  <a:srgbClr val="333F50"/>
                </a:solidFill>
                <a:latin typeface="Calibri"/>
              </a:rPr>
              <a:t>Prove it works: automated tests at three layers, run in CI on every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ROLES &amp; 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Who uses it, and what they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55448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291840"/>
                <a:gridCol w="5669280"/>
              </a:tblGrid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Sees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Can do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F50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Everything in their school(s)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Manage users, settings, rebuild the demo workspace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F50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Timetable, setup, cover, calendar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Generate, drag &amp; drop, assign substitutes, decide nothing about people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F50"/>
                          </a:solidFill>
                          <a:latin typeface="Calibri"/>
                        </a:rPr>
                        <a:t>teacher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Own timetable, own leave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Request leave, view cover in which they are involved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F50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Own class timetable, calendar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F50"/>
                          </a:solidFill>
                          <a:latin typeface="Calibri"/>
                        </a:rPr>
                        <a:t>Read-only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Multi-tenant by design: every row in the database is scoped to one school, taken from the signed JWT — no account can read another school's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Feature set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08760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8191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Constraint-based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9280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greedy seed + simulated annealing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8191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Drag &amp; drop editing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9280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pinned lessons survive regeneration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404872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404872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478024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Cover &amp; substitutes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88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ranked candidates with reasons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404872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404872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478024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Leave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788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impact preview before approving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300984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300984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374136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Two-week A/B 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68503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constraints applied across the cycle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300984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300984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374136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School calendar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68503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holidays, exams, activities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197096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4197096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27024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CSV · PDF · ICS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581144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print-ready, per class/teacher/room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197096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197096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27024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Read-only share links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581144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revocable, no sign-in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093208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5093208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166360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Activity 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477256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who changed what, and when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5093208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5093208"/>
            <a:ext cx="73152" cy="749808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5166360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F2A47"/>
                </a:solidFill>
                <a:latin typeface="Calibri"/>
              </a:rPr>
              <a:t>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477256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Calibri"/>
              </a:rPr>
              <a:t>webhook / email, optional, fail-open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TECHNICAL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The scheduling engine: rules that must never 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HARD CONSTRAINTS — never violated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A class, a teacher and a room host at most one lesson per period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Teachers are only scheduled inside their availability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Lesson max-per-day; teacher daily and weekly workload caps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Fixed rooms must match; required room types must fit the class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Hand-pinned lessons stay exactly where they 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SOFT GOALS — optimised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No gaps in a class's day; no gaps in a teacher's day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The same subject is spread across the week, not clustered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Teacher load is balanced across days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Work is balanced across the cycle weeks (A/B)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Weights are tunable per run through the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HOW THE SOLVER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Two phases, deterministic, and it explains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685800" cy="1051560"/>
          </a:xfrm>
          <a:prstGeom prst="roundRect">
            <a:avLst>
              <a:gd name="adj" fmla="val 2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600200"/>
            <a:ext cx="9692640" cy="10515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709928"/>
            <a:ext cx="9235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2A47"/>
                </a:solidFill>
                <a:latin typeface="Calibri"/>
              </a:rPr>
              <a:t>Greedy seeding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57400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F50"/>
                </a:solidFill>
                <a:latin typeface="Calibri"/>
              </a:rPr>
              <a:t>Most-constrained-first: the lessons with the fewest legal slots are placed first, so the search space never closes unnecessarily.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98648"/>
            <a:ext cx="685800" cy="1051560"/>
          </a:xfrm>
          <a:prstGeom prst="roundRect">
            <a:avLst>
              <a:gd name="adj" fmla="val 2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2898648"/>
            <a:ext cx="9692640" cy="10515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008376"/>
            <a:ext cx="9235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2A47"/>
                </a:solidFill>
                <a:latin typeface="Calibri"/>
              </a:rPr>
              <a:t>Simulated annealing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355848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F50"/>
                </a:solidFill>
                <a:latin typeface="Calibri"/>
              </a:rPr>
              <a:t>Relocate / swap / insert moves explore neighbouring solutions and accept worse ones at high temperature to escape local optima.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97096"/>
            <a:ext cx="685800" cy="1051560"/>
          </a:xfrm>
          <a:prstGeom prst="roundRect">
            <a:avLst>
              <a:gd name="adj" fmla="val 2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53128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40" y="4197096"/>
            <a:ext cx="9692640" cy="105156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4306824"/>
            <a:ext cx="9235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2A47"/>
                </a:solidFill>
                <a:latin typeface="Calibri"/>
              </a:rPr>
              <a:t>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654296"/>
            <a:ext cx="9235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F50"/>
                </a:solidFill>
                <a:latin typeface="Calibri"/>
              </a:rPr>
              <a:t>Placed periods, unplaced periods with the dominant reason (teacher unavailable / busy / limits / room), moves and quality score.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A8C"/>
                </a:solidFill>
                <a:latin typeface="Calibri"/>
              </a:rPr>
              <a:t>Determinism is a tested property: the same seed and iteration count produce the same timetable — 12 unit tests cover feasibility, clashes, limits, room rules, pinned placements and two-week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One binary serves the API and the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2926080" cy="1828800"/>
          </a:xfrm>
          <a:prstGeom prst="roundRect">
            <a:avLst>
              <a:gd name="adj" fmla="val 8000"/>
            </a:avLst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87168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React 19 · TypeScript · Vite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TanStack Query · React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2926080" cy="182880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0116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HTTP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487168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Rust · Axum 0.8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JWT (HS256) · argon2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REST, school-scoped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828800"/>
            <a:ext cx="2926080" cy="1828800"/>
          </a:xfrm>
          <a:prstGeom prst="roundRect">
            <a:avLst>
              <a:gd name="adj" fmla="val 8000"/>
            </a:avLst>
          </a:prstGeom>
          <a:solidFill>
            <a:srgbClr val="356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0116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87168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sqlx, WAL mode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schema + migrations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8E6F2"/>
                </a:solidFill>
                <a:latin typeface="Calibri"/>
              </a:rPr>
              <a:t>seeded demo school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606040"/>
            <a:ext cx="914400" cy="2743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624328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F2A47"/>
                </a:solidFill>
                <a:latin typeface="Calibri"/>
              </a:rPr>
              <a:t>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606040"/>
            <a:ext cx="914400" cy="2743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624328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F2A47"/>
                </a:solidFill>
                <a:latin typeface="Calibri"/>
              </a:rP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Vite builds the SPA into frontend/dist, and the Rust process serves it — a single deployable.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77639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D6FA8"/>
                </a:solidFill>
                <a:latin typeface="Calibri"/>
              </a:rPr>
              <a:t>INDEPENDENT MODULES INSIDE THE 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34340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43984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solver/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80944" y="434340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0944" y="4443984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pdf.rs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38928" y="434340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8" y="4443984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ical.rs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434340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4443984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notifications.rs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54896" y="434340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4443984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audit.rs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074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A8C"/>
                </a:solidFill>
                <a:latin typeface="Calibri"/>
              </a:rPr>
              <a:t>Solver, PDF writer and iCalendar generator are pure functions with no I/O — that is what makes them unit-testable and what makes the API predictable.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Technology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554480"/>
          <a:ext cx="1051559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49039"/>
                <a:gridCol w="5303520"/>
              </a:tblGrid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Rust 2024 · Axum 0.8 · sqlx (SQLite)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Performance + type safety; the solver runs in-process, no queue needed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JWT (HS256) · argon2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Stateless sessions, per-installation secret, modern password hashing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React 19 · TypeScript · Vite · TanStack Query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Typed API client, cached server state, fast builds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Exports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dependency-free PDF writer · iCalendar generator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No heavyweight document library; output is unit-tested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cargo test · Python HTTP suites · Playwright Chromium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Solver logic, API contract and real browser behaviour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CI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GitHub Actions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Unit tests + full end-to-end run on every push and PR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Demo · defining the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fyp-0.30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985" y="1463040"/>
            <a:ext cx="2940750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43460" y="1453515"/>
            <a:ext cx="2959800" cy="449961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64592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Subjects, teachers, classes, rooms and lessons in one screen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Teacher availability as a clickable grid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Bell schedule defines the periods, breaks excluded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Everything lands in one API call (/api/setup/all)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Demo · the timetable, generated then edited by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fyp-0.30-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80" y="1463040"/>
            <a:ext cx="2539160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4255" y="1453515"/>
            <a:ext cx="2558210" cy="449961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60020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View by class, teacher or room — same grid, different grouping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Drag a lesson to an empty slot: the API validates, the grid repaints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Pin a lesson and it survives every future generation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Conflicts are explained, not just rejected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Exports and share links follow the current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Demo · a teacher is absent: who covers?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12</a:t>
            </a:r>
          </a:p>
        </p:txBody>
      </p:sp>
      <p:pic>
        <p:nvPicPr>
          <p:cNvPr id="9" name="Picture 8" descr="fyp-0.28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63040"/>
            <a:ext cx="6144768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1451" y="1453515"/>
            <a:ext cx="6163818" cy="449961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60020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Approved leave turns into an absence on the cover day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Affected lessons are listed per period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Candidates are ranked, each with a reason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Blocked teachers are shown with why: on leave, busy, unavailable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6FA8"/>
                </a:solidFill>
                <a:latin typeface="Calibri"/>
              </a:rPr>
              <a:t>▪  </a:t>
            </a:r>
            <a:r>
              <a:rPr sz="1400" b="0">
                <a:solidFill>
                  <a:srgbClr val="333F50"/>
                </a:solidFill>
                <a:latin typeface="Calibri"/>
              </a:rPr>
              <a:t>Assigning notifies over webhook; history keeps both assignments and cancels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Demo · the day view and the school 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13</a:t>
            </a:r>
          </a:p>
        </p:txBody>
      </p:sp>
      <p:pic>
        <p:nvPicPr>
          <p:cNvPr id="9" name="Picture 8" descr="fyp-0.00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99" y="1554480"/>
            <a:ext cx="4435321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0374" y="1544955"/>
            <a:ext cx="4454371" cy="294513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yp-0.00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374" y="1554480"/>
            <a:ext cx="3813172" cy="29260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907849" y="1544955"/>
            <a:ext cx="3832222" cy="294513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A8C"/>
                </a:solidFill>
                <a:latin typeface="Calibri"/>
              </a:rPr>
              <a:t>Dashboard: coverage stats, unfilled periods, today's absences, upcoming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6344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7A8C"/>
                </a:solidFill>
                <a:latin typeface="Calibri"/>
              </a:rPr>
              <a:t>Calendar: holidays close the school — the solver and cover logic both respect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NON-FUNCTIONAL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Security, roles and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54480"/>
            <a:ext cx="3383280" cy="73152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556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Passwords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57984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333F50"/>
                </a:solidFill>
                <a:latin typeface="Calibri"/>
              </a:rPr>
              <a:t>argon2 hashing; the demo school is rebuildable in one click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544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554480"/>
            <a:ext cx="3383280" cy="73152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556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57984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333F50"/>
                </a:solidFill>
                <a:latin typeface="Calibri"/>
              </a:rPr>
              <a:t>HS256 JWTs signed with a per-installation secret (auto-generated on first run)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5564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Authorisation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57984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333F50"/>
                </a:solidFill>
                <a:latin typeface="Calibri"/>
              </a:rPr>
              <a:t>every write endpoint requires admin or scheduler; teachers request leave only for themselves; students are read-only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290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429000"/>
            <a:ext cx="3383280" cy="73152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3016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Tenancy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32504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333F50"/>
                </a:solidFill>
                <a:latin typeface="Calibri"/>
              </a:rPr>
              <a:t>every row is school-scoped from the token — no cross-school reads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4290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429000"/>
            <a:ext cx="3383280" cy="73152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63016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Public links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032504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333F50"/>
                </a:solidFill>
                <a:latin typeface="Calibri"/>
              </a:rPr>
              <a:t>unguessable tokens, revocable, return 404 the moment they are revoked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4290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429000"/>
            <a:ext cx="3383280" cy="73152"/>
          </a:xfrm>
          <a:prstGeom prst="rect">
            <a:avLst/>
          </a:prstGeom>
          <a:solidFill>
            <a:srgbClr val="1D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63016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032504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333F50"/>
                </a:solidFill>
                <a:latin typeface="Calibri"/>
              </a:rPr>
              <a:t>generation, edits, cover decisions and account changes are all logged with actor and timestamp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Testing at three layers — and what it caught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5087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834640"/>
                <a:gridCol w="6309360"/>
              </a:tblGrid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Covers</a:t>
                      </a:r>
                    </a:p>
                  </a:txBody>
                  <a:tcPr marL="91440" marR="73152" marT="27432" marB="27432" anchor="ctr">
                    <a:solidFill>
                      <a:srgbClr val="0F2A4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cargo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12 tests: feasibility, clashes, workload caps, room rules, pinned placements, two-week cycles, determinism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Python suites (stdlib only)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126 checks: auth and RBAC, setup CRUD, timetable conflicts, generation, cover/leave, exports, share links, notifications</a:t>
                      </a:r>
                    </a:p>
                  </a:txBody>
                  <a:tcPr marL="91440" marR="73152" marT="27432" marB="27432" anchor="ctr">
                    <a:solidFill>
                      <a:srgbClr val="F2F6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F50"/>
                          </a:solidFill>
                          <a:latin typeface="Calibri"/>
                        </a:rPr>
                        <a:t>Browser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Playwright (Chromium)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F50"/>
                          </a:solidFill>
                          <a:latin typeface="Calibri"/>
                        </a:rPr>
                        <a:t>33 UI assertions: drag &amp; drop reaches the API and repaints, share links work for anonymous visitors, settings and activity log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443484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434840"/>
            <a:ext cx="82296" cy="137160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A BUG ONLY THE SUITE COULD 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F50"/>
                </a:solidFill>
                <a:latin typeface="Calibri"/>
              </a:rPr>
              <a:t>CI reported green while the runner was silently testing a stale server left behind by an earlier run — it killed a shell instead of the process. The runner now execs the server, refuses to start when the port is already answering, and prints every check it ran.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0A202"/>
                </a:solidFill>
                <a:latin typeface="Calibri"/>
              </a:rPr>
              <a:t>7,814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lines of Rust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backend + 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0944" y="164592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0A202"/>
                </a:solidFill>
                <a:latin typeface="Calibri"/>
              </a:rPr>
              <a:t>5,177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4688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lines of TypeScript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frontend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164592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0A202"/>
                </a:solidFill>
                <a:latin typeface="Calibri"/>
              </a:rPr>
              <a:t>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4688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REST routes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all school-scoped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64592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0A202"/>
                </a:solidFill>
                <a:latin typeface="Calibr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4688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SQLite tables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schema + migrations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4896" y="164592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6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0A202"/>
                </a:solidFill>
                <a:latin typeface="Calibri"/>
              </a:rPr>
              <a:t>171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246888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automated checks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9D9E8"/>
                </a:solidFill>
                <a:latin typeface="Calibri"/>
              </a:rPr>
              <a:t>all passing in 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1188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D6FA8"/>
                </a:solidFill>
                <a:latin typeface="Calibri"/>
              </a:rPr>
              <a:t>▪  </a:t>
            </a:r>
            <a:r>
              <a:rPr sz="1500" b="0">
                <a:solidFill>
                  <a:srgbClr val="333F50"/>
                </a:solidFill>
                <a:latin typeface="Calibri"/>
              </a:rPr>
              <a:t>A full school (3 classes, 8 teachers, 6 rooms, 22 lessons) generates in well under a second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D6FA8"/>
                </a:solidFill>
                <a:latin typeface="Calibri"/>
              </a:rPr>
              <a:t>▪  </a:t>
            </a:r>
            <a:r>
              <a:rPr sz="1500" b="0">
                <a:solidFill>
                  <a:srgbClr val="333F50"/>
                </a:solidFill>
                <a:latin typeface="Calibri"/>
              </a:rPr>
              <a:t>Hand-edited lessons are honoured by every later generation — nothing is silently reverted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D6FA8"/>
                </a:solidFill>
                <a:latin typeface="Calibri"/>
              </a:rPr>
              <a:t>▪  </a:t>
            </a:r>
            <a:r>
              <a:rPr sz="1500" b="0">
                <a:solidFill>
                  <a:srgbClr val="333F50"/>
                </a:solidFill>
                <a:latin typeface="Calibri"/>
              </a:rPr>
              <a:t>Two-week A/B cycles solve with the same engine, with balance measured across both weeks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D6FA8"/>
                </a:solidFill>
                <a:latin typeface="Calibri"/>
              </a:rPr>
              <a:t>▪  </a:t>
            </a:r>
            <a:r>
              <a:rPr sz="1500" b="0">
                <a:solidFill>
                  <a:srgbClr val="333F50"/>
                </a:solidFill>
                <a:latin typeface="Calibri"/>
              </a:rPr>
              <a:t>The whole stack runs from one command: cargo run --seed-demo, plus the built SPA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>
                <a:solidFill>
                  <a:srgbClr val="1D6FA8"/>
                </a:solidFill>
                <a:latin typeface="Calibri"/>
              </a:rPr>
              <a:t>▪  </a:t>
            </a:r>
            <a:r>
              <a:rPr sz="1500" b="0">
                <a:solidFill>
                  <a:srgbClr val="333F50"/>
                </a:solidFill>
                <a:latin typeface="Calibri"/>
              </a:rPr>
              <a:t>Cover assignment, leave impact, exports, share links and notifications all verified end to 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D6FA8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0F2A47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33856"/>
            <a:ext cx="1005840" cy="4572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TimetableMaster ·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548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A8C"/>
                </a:solidFill>
                <a:latin typeface="Calibr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5120640" cy="38404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KNOWN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SQLite keeps the app single-node; no horizontal write scaling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No teacher/team-taught lessons yet — one teacher per lesson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Subject-vs-time-of-day preferences are not modelled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F0A202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Solver quality is bounded by the time budget, not proven optimal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120640" cy="38404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2A47"/>
                </a:solidFill>
                <a:latin typeface="Calibri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Multi-teacher lessons and lab/elective slots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iCal subscription feed (the one-off .ics export already exists)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Postgres + container deployment for multi-school districts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▪  </a:t>
            </a:r>
            <a:r>
              <a:rPr sz="1300" b="0">
                <a:solidFill>
                  <a:srgbClr val="333F50"/>
                </a:solidFill>
                <a:latin typeface="Calibri"/>
              </a:rPr>
              <a:t>Compare against an off-the-shelf CP-SAT solver as a benchmark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46304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C9D9E8"/>
                </a:solidFill>
                <a:latin typeface="Calibri"/>
              </a:rPr>
              <a:t>Questions welcome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C9D9E8"/>
                </a:solidFill>
                <a:latin typeface="Calibri"/>
              </a:rPr>
              <a:t>Repository: github.com/Mephisto-Von/Intelligent-Time-Table-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C9D9E8"/>
                </a:solidFill>
                <a:latin typeface="Calibri"/>
              </a:rPr>
              <a:t>Demo: sign in with admin@demo.school / demo1234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